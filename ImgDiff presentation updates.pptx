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3"/>
    <p:restoredTop sz="94658"/>
  </p:normalViewPr>
  <p:slideViewPr>
    <p:cSldViewPr snapToGrid="0">
      <p:cViewPr>
        <p:scale>
          <a:sx n="90" d="100"/>
          <a:sy n="90" d="100"/>
        </p:scale>
        <p:origin x="10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18E41-7074-8542-A466-C2A03CB7347B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7D6DA-A557-6D43-8013-E5B093A9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0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for bands of minimum anisotropy for holes in epsilon=12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7D6DA-A557-6D43-8013-E5B093A981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36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Full bands for holes in epsilon=12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7D6DA-A557-6D43-8013-E5B093A981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76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Full bands for holes in epsilon=12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7D6DA-A557-6D43-8013-E5B093A981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63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1356-1E66-F504-423C-565C07A4E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2D0F2-8220-6FD8-0020-FAEDC15A6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212E4-1EEF-C0FD-BEF9-20BF8ED4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B922-3C45-549D-3CF1-F95BD184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0FA4-3408-CD0E-A756-8A1A353C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F025-3642-9D70-B981-D715EA0B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6DF22-8650-5022-65F3-A7F169A3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0091F-7855-17E0-D377-35AA2D54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6F46-D3BF-7D4C-EB7C-38AEE337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D0CB-C451-C625-C155-16389536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9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BF68-5591-EC3D-A81C-23440FBF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FE2ED-661D-CD14-5D63-FE1F582EC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CB6D6-C649-00CD-ABED-B33C0852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652D-28E9-E7B5-0764-8824EB6E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12BF-65D1-CE44-C0B3-1FA70A10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0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A55C-9A95-C571-2F45-A647A711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9E21-0792-EC73-86B6-E9D0EA1AC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82AD4-68D0-F9EE-AFF1-501FD488F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886B1-B04C-E7A4-374E-955B70D2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37D97-73B0-D5B4-1DCD-08180B54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EA746-857D-AAC3-834D-68DF87B4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9E0C-3B7C-7BA4-9DFE-F32D71EB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F6BA9-7486-EBB0-C743-07E369AE8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86836-4A40-806D-5A2B-0788CD25E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09410-BD1E-A31F-B062-A8A5D7162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F15B6-A2B8-F4A2-AC8C-449C883EC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DE210-D2C3-242A-F574-B6E9DE52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667F5-C272-56A0-1078-DC6CD39D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EAF4BC-A345-B51D-1A87-2FDB328D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6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4409-33BA-1972-69AD-63917F63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D3CEB-6663-B4C6-4312-908608C5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58547-A9E1-8DDA-21B1-C71B142B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34C90-3146-ED0B-DB59-BCEA839E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BD023-F3FB-E060-9FAC-7F601EF5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5E173-5B7A-F804-A789-0E038111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7591-C6CE-5B72-E2B6-43C26A71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2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E4B4-76A9-1BFB-3F36-43FE9D96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6987-3481-3911-DA29-125ABDB88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B6D1D-C5AA-8218-CD1C-9B5658CD6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5BA21-693E-1C15-43ED-112364FD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01AF9-288B-76A4-B35B-6FC03FD4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A0860-540F-E908-DC98-D5E93BFD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5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02CB-7E53-35C8-1B6E-981C320D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79BD-30B6-6AB5-299A-0CB61E646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209A2-DD9D-913F-02D1-5FDC0E8A4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5611A-E851-2950-C014-27A52C61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E6858-D04C-DA68-D072-7D160A7D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46FEB-B58D-C71C-813C-D8CCF70C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1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645C-2B3D-B73E-6227-2E0CDF06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2F523-53F2-666B-9B45-0F9B59708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59097-D97F-9AED-3580-CD7C5979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9A5B2-94F3-4C75-646C-5DF586F2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8828C-B741-B210-25FD-3B1986CD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5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AC735-563F-F1F6-C015-C32B3222C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27ABF-B51B-E727-2584-3E0CB3306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AC53-D825-4517-F1EF-EA154220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9E791-F6CC-EE89-EF3B-ACC79217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9CDD8-F504-A391-A9E6-6371A53F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3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CB7AF-E158-D347-BF8C-6064C594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2E34C-0FC0-F5C4-D20D-2575DD00B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2454-4496-FD91-B001-A8BC680BA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41C7E-EBAB-4C49-815F-7C19A09E378A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D38F-0504-3CBB-11D6-2A162956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3AA16-3C19-AF76-13FD-9AE1DC038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029B6-D6D5-BB4D-8004-8F141EB9E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4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46D5-FB5C-B79B-95CC-D4D1892C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D6FA40DC-8A5A-71C4-C023-D914CC8930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366" y="1253331"/>
            <a:ext cx="79312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49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2594-AA67-F27F-8B88-82B870AF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ADA0-F04B-9B20-3052-B652F932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F8D6CE9B-CD5B-703C-554C-B06E669CAD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3" r="32870" b="1"/>
          <a:stretch>
            <a:fillRect/>
          </a:stretch>
        </p:blipFill>
        <p:spPr bwMode="auto">
          <a:xfrm>
            <a:off x="2662611" y="1690688"/>
            <a:ext cx="9529389" cy="38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ig. 1">
            <a:extLst>
              <a:ext uri="{FF2B5EF4-FFF2-40B4-BE49-F238E27FC236}">
                <a16:creationId xmlns:a16="http://schemas.microsoft.com/office/drawing/2014/main" id="{5D5377F5-F072-17D6-3459-711AF6E14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5" t="1" r="45539" b="59486"/>
          <a:stretch>
            <a:fillRect/>
          </a:stretch>
        </p:blipFill>
        <p:spPr bwMode="auto">
          <a:xfrm>
            <a:off x="0" y="1690687"/>
            <a:ext cx="2516940" cy="335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340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D4AE-6881-E579-B8CD-BA5DDE0A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0679-57DB-B946-FD0E-7010FBCD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ue and green gradients&#10;&#10;AI-generated content may be incorrect.">
            <a:extLst>
              <a:ext uri="{FF2B5EF4-FFF2-40B4-BE49-F238E27FC236}">
                <a16:creationId xmlns:a16="http://schemas.microsoft.com/office/drawing/2014/main" id="{521729A2-416D-10AE-9737-B00D66C2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389" y="3273596"/>
            <a:ext cx="4727545" cy="3545659"/>
          </a:xfrm>
          <a:prstGeom prst="rect">
            <a:avLst/>
          </a:prstGeom>
        </p:spPr>
      </p:pic>
      <p:pic>
        <p:nvPicPr>
          <p:cNvPr id="6" name="Picture 5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9A496E11-A3E4-CCE3-1969-35254DE66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471" y="3273596"/>
            <a:ext cx="4727545" cy="3545659"/>
          </a:xfrm>
          <a:prstGeom prst="rect">
            <a:avLst/>
          </a:prstGeom>
        </p:spPr>
      </p:pic>
      <p:pic>
        <p:nvPicPr>
          <p:cNvPr id="3" name="Picture 2" descr="Fig. 1">
            <a:extLst>
              <a:ext uri="{FF2B5EF4-FFF2-40B4-BE49-F238E27FC236}">
                <a16:creationId xmlns:a16="http://schemas.microsoft.com/office/drawing/2014/main" id="{40F54304-F043-0714-55B7-87B23C8FE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5" t="1" r="45539" b="59486"/>
          <a:stretch>
            <a:fillRect/>
          </a:stretch>
        </p:blipFill>
        <p:spPr bwMode="auto">
          <a:xfrm>
            <a:off x="543724" y="74159"/>
            <a:ext cx="2516940" cy="335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43E585A5-4AC5-5D6C-A26F-392E71E959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5807"/>
          <a:stretch>
            <a:fillRect/>
          </a:stretch>
        </p:blipFill>
        <p:spPr>
          <a:xfrm>
            <a:off x="2170509" y="3300255"/>
            <a:ext cx="1143714" cy="3545659"/>
          </a:xfrm>
          <a:prstGeom prst="rect">
            <a:avLst/>
          </a:prstGeom>
        </p:spPr>
      </p:pic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D314C9A0-BDA5-11D9-8389-1C6B25AE13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3" r="32870" b="1"/>
          <a:stretch>
            <a:fillRect/>
          </a:stretch>
        </p:blipFill>
        <p:spPr bwMode="auto">
          <a:xfrm>
            <a:off x="3604390" y="38745"/>
            <a:ext cx="8587610" cy="344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563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A8BD-4B06-D4BF-BCBF-050BFE14A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EC0B-C8CA-AEF3-FBAC-04456624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2FE16-6DE9-3C3A-53CF-09638727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04390" y="3300256"/>
            <a:ext cx="4658476" cy="3493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5698EF-F0BE-6DF4-0C61-0BA22D4FDE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8195" y="3352058"/>
            <a:ext cx="4658476" cy="3493857"/>
          </a:xfrm>
          <a:prstGeom prst="rect">
            <a:avLst/>
          </a:prstGeom>
        </p:spPr>
      </p:pic>
      <p:pic>
        <p:nvPicPr>
          <p:cNvPr id="3" name="Picture 2" descr="Fig. 1">
            <a:extLst>
              <a:ext uri="{FF2B5EF4-FFF2-40B4-BE49-F238E27FC236}">
                <a16:creationId xmlns:a16="http://schemas.microsoft.com/office/drawing/2014/main" id="{DE1ECDAF-ED3D-7644-4281-0DD14E41D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5" t="1" r="45539" b="59486"/>
          <a:stretch>
            <a:fillRect/>
          </a:stretch>
        </p:blipFill>
        <p:spPr bwMode="auto">
          <a:xfrm>
            <a:off x="543724" y="74159"/>
            <a:ext cx="2516940" cy="335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FCB839-7DA5-B5CB-8860-2B5860EE50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89" t="731" r="76097" b="-731"/>
          <a:stretch>
            <a:fillRect/>
          </a:stretch>
        </p:blipFill>
        <p:spPr>
          <a:xfrm>
            <a:off x="2170509" y="3300255"/>
            <a:ext cx="1143714" cy="3545659"/>
          </a:xfrm>
          <a:prstGeom prst="rect">
            <a:avLst/>
          </a:prstGeom>
        </p:spPr>
      </p:pic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E8149461-FF7C-89FF-6E7F-2007ACC442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3" r="32870" b="1"/>
          <a:stretch>
            <a:fillRect/>
          </a:stretch>
        </p:blipFill>
        <p:spPr bwMode="auto">
          <a:xfrm>
            <a:off x="3604390" y="38745"/>
            <a:ext cx="8587610" cy="344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5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4F12-7248-8762-0EAA-59AEA911B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4D9E24-7C9F-3682-9444-A90D7BED2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3775" y="1825625"/>
            <a:ext cx="580178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505CD6-D75D-E280-BFC4-2C75FB926D27}"/>
              </a:ext>
            </a:extLst>
          </p:cNvPr>
          <p:cNvSpPr txBox="1"/>
          <p:nvPr/>
        </p:nvSpPr>
        <p:spPr>
          <a:xfrm>
            <a:off x="1117600" y="2675467"/>
            <a:ext cx="319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</a:t>
            </a:r>
            <a:r>
              <a:rPr lang="en-US" dirty="0" err="1"/>
              <a:t>μm</a:t>
            </a:r>
            <a:r>
              <a:rPr lang="en-US" dirty="0"/>
              <a:t> light @ normal incidence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5C83D-43BA-E9CC-9B27-348587B13BC4}"/>
              </a:ext>
            </a:extLst>
          </p:cNvPr>
          <p:cNvSpPr txBox="1"/>
          <p:nvPr/>
        </p:nvSpPr>
        <p:spPr>
          <a:xfrm>
            <a:off x="1113559" y="3244334"/>
            <a:ext cx="319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 posts on Sapphire substrate</a:t>
            </a:r>
          </a:p>
        </p:txBody>
      </p:sp>
    </p:spTree>
    <p:extLst>
      <p:ext uri="{BB962C8B-B14F-4D97-AF65-F5344CB8AC3E}">
        <p14:creationId xmlns:p14="http://schemas.microsoft.com/office/powerpoint/2010/main" val="371311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F36D-F569-7913-9EE4-F8224AA1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245DD-5102-8EB5-49AB-97AE403A1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371" y="1690688"/>
            <a:ext cx="4801467" cy="3689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D3DDA4-CEEA-6242-D19D-68C0B092B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9667" y="3511410"/>
            <a:ext cx="3852760" cy="29814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71D9DE-27B0-FC0C-7E0B-68336FB252A6}"/>
              </a:ext>
            </a:extLst>
          </p:cNvPr>
          <p:cNvSpPr txBox="1"/>
          <p:nvPr/>
        </p:nvSpPr>
        <p:spPr>
          <a:xfrm>
            <a:off x="940982" y="5791201"/>
            <a:ext cx="40166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Wang, et. al, Opt. Lett. </a:t>
            </a:r>
            <a:r>
              <a:rPr lang="en-US" sz="16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38</a:t>
            </a:r>
            <a:r>
              <a:rPr lang="en-US" sz="16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100-102 (2013)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D8E09E-919E-4220-3DA1-44D04172B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585" y="82412"/>
            <a:ext cx="4398682" cy="329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5F75FE-FAE8-7F44-C32F-FC697F058AEA}"/>
              </a:ext>
            </a:extLst>
          </p:cNvPr>
          <p:cNvSpPr txBox="1"/>
          <p:nvPr/>
        </p:nvSpPr>
        <p:spPr>
          <a:xfrm>
            <a:off x="9891267" y="1918447"/>
            <a:ext cx="206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run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0F8C0-6EB8-10E9-97BA-C4BDEE43465F}"/>
              </a:ext>
            </a:extLst>
          </p:cNvPr>
          <p:cNvSpPr txBox="1"/>
          <p:nvPr/>
        </p:nvSpPr>
        <p:spPr>
          <a:xfrm>
            <a:off x="9891266" y="4672264"/>
            <a:ext cx="206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</a:t>
            </a:r>
            <a:r>
              <a:rPr lang="en-US" dirty="0" err="1"/>
              <a:t>decay_by</a:t>
            </a:r>
            <a:r>
              <a:rPr lang="en-US" dirty="0"/>
              <a:t> amount</a:t>
            </a:r>
          </a:p>
        </p:txBody>
      </p:sp>
    </p:spTree>
    <p:extLst>
      <p:ext uri="{BB962C8B-B14F-4D97-AF65-F5344CB8AC3E}">
        <p14:creationId xmlns:p14="http://schemas.microsoft.com/office/powerpoint/2010/main" val="423918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C675-2D46-18DA-AA15-3B58FAE0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1A39-95B2-2FC6-844E-D6BED8DA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75B4D-B2A2-C33A-BB4D-A30D38629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04390" y="3300256"/>
            <a:ext cx="4658476" cy="3493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3E7B17-273F-532C-5122-B9318A31D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8195" y="3352058"/>
            <a:ext cx="4658476" cy="3493857"/>
          </a:xfrm>
          <a:prstGeom prst="rect">
            <a:avLst/>
          </a:prstGeom>
        </p:spPr>
      </p:pic>
      <p:pic>
        <p:nvPicPr>
          <p:cNvPr id="3" name="Picture 2" descr="Fig. 1">
            <a:extLst>
              <a:ext uri="{FF2B5EF4-FFF2-40B4-BE49-F238E27FC236}">
                <a16:creationId xmlns:a16="http://schemas.microsoft.com/office/drawing/2014/main" id="{72C6AD40-2562-67C1-1E2E-4C6552192F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5" t="1" r="45539" b="59486"/>
          <a:stretch>
            <a:fillRect/>
          </a:stretch>
        </p:blipFill>
        <p:spPr bwMode="auto">
          <a:xfrm>
            <a:off x="543724" y="74159"/>
            <a:ext cx="2516940" cy="335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90C15-0162-969D-A124-305AF40625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" r="75708"/>
          <a:stretch>
            <a:fillRect/>
          </a:stretch>
        </p:blipFill>
        <p:spPr>
          <a:xfrm>
            <a:off x="2170509" y="3300255"/>
            <a:ext cx="1143714" cy="3545659"/>
          </a:xfrm>
          <a:prstGeom prst="rect">
            <a:avLst/>
          </a:prstGeom>
        </p:spPr>
      </p:pic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C24E77C6-8BD5-D6CA-4D5D-BEF850B36E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3" r="32870" b="1"/>
          <a:stretch>
            <a:fillRect/>
          </a:stretch>
        </p:blipFill>
        <p:spPr bwMode="auto">
          <a:xfrm>
            <a:off x="3604390" y="38745"/>
            <a:ext cx="8587610" cy="344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859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BA44-19A8-A9E0-935E-78EF2B8C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1806B-3443-3CC5-487B-1D25DEB92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413" y="1027906"/>
            <a:ext cx="2714200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02BCB1-0247-9FF4-783D-F6DD4201D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010" y="1234210"/>
            <a:ext cx="5774877" cy="414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13624-13F4-EEE9-C9A3-8B4BF188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7CA8-8C34-644C-70B2-72C6327C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D37369-6EC7-291F-5D2D-8731EF2E0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413" y="1027906"/>
            <a:ext cx="2714200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7B4BA0-5FA1-34C1-E636-25A5E8DDD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010" y="1234210"/>
            <a:ext cx="5774877" cy="414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4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92E1-4FC6-DFEC-A037-78711C23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B58D0A-0DD4-21CE-7C36-205686AFB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228144" y="456897"/>
            <a:ext cx="7666970" cy="57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0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AD92-18B2-D1C9-2F85-A21CEBA5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32D1C-FD6D-BE69-7B15-25FD5EA8A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1937"/>
            <a:ext cx="10515600" cy="59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1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5CCB-AF5B-1C4B-BD48-3CFE988D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F5B14-D2B9-B29F-6C7D-E72A522D0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1441" y="365125"/>
            <a:ext cx="7749117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9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23762</TotalTime>
  <Words>66</Words>
  <Application>Microsoft Macintosh PowerPoint</Application>
  <PresentationFormat>Widescreen</PresentationFormat>
  <Paragraphs>11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G. Gezelter</dc:creator>
  <cp:lastModifiedBy>Jonah G. Gezelter</cp:lastModifiedBy>
  <cp:revision>11</cp:revision>
  <dcterms:created xsi:type="dcterms:W3CDTF">2026-03-02T00:41:47Z</dcterms:created>
  <dcterms:modified xsi:type="dcterms:W3CDTF">2026-05-22T17:31:41Z</dcterms:modified>
</cp:coreProperties>
</file>