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5461"/>
    <p:restoredTop sz="94694"/>
  </p:normalViewPr>
  <p:slideViewPr>
    <p:cSldViewPr snapToGrid="0">
      <p:cViewPr varScale="1">
        <p:scale>
          <a:sx n="87" d="100"/>
          <a:sy n="87" d="100"/>
        </p:scale>
        <p:origin x="232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E1356-1E66-F504-423C-565C07A4E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52D0F2-8220-6FD8-0020-FAEDC15A60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8212E4-1EEF-C0FD-BEF9-20BF8ED46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2DB922-3C45-549D-3CF1-F95BD1844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80FA4-3408-CD0E-A756-8A1A353C7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25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CF025-3642-9D70-B981-D715EA0B8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6DF22-8650-5022-65F3-A7F169A3A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0091F-7855-17E0-D377-35AA2D54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2C6F46-D3BF-7D4C-EB7C-38AEE337C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F9D0CB-C451-C625-C155-163895369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195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4BF68-5591-EC3D-A81C-23440FBFD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FE2ED-661D-CD14-5D63-FE1F582EC2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CB6D6-C649-00CD-ABED-B33C0852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B7652D-28E9-E7B5-0764-8824EB6EFE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12BF-65D1-CE44-C0B3-1FA70A109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003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CA55C-9A95-C571-2F45-A647A711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C9E21-0792-EC73-86B6-E9D0EA1AC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482AD4-68D0-F9EE-AFF1-501FD488FC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886B1-B04C-E7A4-374E-955B70D2A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937D97-73B0-D5B4-1DCD-08180B54B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FEA746-857D-AAC3-834D-68DF87B4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27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39E0C-3B7C-7BA4-9DFE-F32D71EBE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2F6BA9-7486-EBB0-C743-07E369AE8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B86836-4A40-806D-5A2B-0788CD25E5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D09410-BD1E-A31F-B062-A8A5D7162A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F15B6-A2B8-F4A2-AC8C-449C883EC1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EDE210-D2C3-242A-F574-B6E9DE526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4667F5-C272-56A0-1078-DC6CD39DF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EAF4BC-A345-B51D-1A87-2FDB328D6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164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C4409-33BA-1972-69AD-63917F636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4D3CEB-6663-B4C6-4312-908608C50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358547-A9E1-8DDA-21B1-C71B142B9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C34C90-3146-ED0B-DB59-BCEA839E9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453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7BD023-F3FB-E060-9FAC-7F601EF55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05E173-5B7A-F804-A789-0E0381118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F7591-C6CE-5B72-E2B6-43C26A713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520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AE4B4-76A9-1BFB-3F36-43FE9D96B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E6987-3481-3911-DA29-125ABDB88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5B6D1D-C5AA-8218-CD1C-9B5658CD6B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45BA21-693E-1C15-43ED-112364FD8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301AF9-288B-76A4-B35B-6FC03FD42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6A0860-540F-E908-DC98-D5E93BFD8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358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02CB-7E53-35C8-1B6E-981C320DD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E679BD-30B6-6AB5-299A-0CB61E6463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D209A2-DD9D-913F-02D1-5FDC0E8A46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55611A-E851-2950-C014-27A52C61C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E6858-D04C-DA68-D072-7D160A7D7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F46FEB-B58D-C71C-813C-D8CCF70C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91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D645C-2B3D-B73E-6227-2E0CDF069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52F523-53F2-666B-9B45-0F9B59708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059097-D97F-9AED-3580-CD7C59794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D9A5B2-94F3-4C75-646C-5DF586F2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8828C-B741-B210-25FD-3B1986CD3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953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EAC735-563F-F1F6-C015-C32B3222C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127ABF-B51B-E727-2584-3E0CB3306B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5AC53-D825-4517-F1EF-EA1542200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9E791-F6CC-EE89-EF3B-ACC792171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9CDD8-F504-A391-A9E6-6371A53F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39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9CB7AF-E158-D347-BF8C-6064C5945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A2E34C-0FC0-F5C4-D20D-2575DD00B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62454-4496-FD91-B001-A8BC680BAC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641C7E-EBAB-4C49-815F-7C19A09E378A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BD38F-0504-3CBB-11D6-2A162956CA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3AA16-3C19-AF76-13FD-9AE1DC038B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9029B6-D6D5-BB4D-8004-8F141EB9E2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84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F46D5-FB5C-B79B-95CC-D4D1892CB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Fig. 1">
            <a:extLst>
              <a:ext uri="{FF2B5EF4-FFF2-40B4-BE49-F238E27FC236}">
                <a16:creationId xmlns:a16="http://schemas.microsoft.com/office/drawing/2014/main" id="{D6FA40DC-8A5A-71C4-C023-D914CC8930E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0366" y="1253331"/>
            <a:ext cx="7931268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249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52594-AA67-F27F-8B88-82B870AF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AADA0-F04B-9B20-3052-B652F932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Fig. 1">
            <a:extLst>
              <a:ext uri="{FF2B5EF4-FFF2-40B4-BE49-F238E27FC236}">
                <a16:creationId xmlns:a16="http://schemas.microsoft.com/office/drawing/2014/main" id="{F8D6CE9B-CD5B-703C-554C-B06E669CAD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33" r="32870" b="1"/>
          <a:stretch>
            <a:fillRect/>
          </a:stretch>
        </p:blipFill>
        <p:spPr bwMode="auto">
          <a:xfrm>
            <a:off x="2662611" y="1690688"/>
            <a:ext cx="9529389" cy="3821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ig. 1">
            <a:extLst>
              <a:ext uri="{FF2B5EF4-FFF2-40B4-BE49-F238E27FC236}">
                <a16:creationId xmlns:a16="http://schemas.microsoft.com/office/drawing/2014/main" id="{5D5377F5-F072-17D6-3459-711AF6E146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85" t="1" r="45539" b="59486"/>
          <a:stretch>
            <a:fillRect/>
          </a:stretch>
        </p:blipFill>
        <p:spPr bwMode="auto">
          <a:xfrm>
            <a:off x="0" y="1690687"/>
            <a:ext cx="2516940" cy="3354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0340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0D4AE-6881-E579-B8CD-BA5DDE0AB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A0679-57DB-B946-FD0E-7010FBCD6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blue and green gradients&#10;&#10;AI-generated content may be incorrect.">
            <a:extLst>
              <a:ext uri="{FF2B5EF4-FFF2-40B4-BE49-F238E27FC236}">
                <a16:creationId xmlns:a16="http://schemas.microsoft.com/office/drawing/2014/main" id="{521729A2-416D-10AE-9737-B00D66C2C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4389" y="3273596"/>
            <a:ext cx="4727545" cy="3545659"/>
          </a:xfrm>
          <a:prstGeom prst="rect">
            <a:avLst/>
          </a:prstGeom>
        </p:spPr>
      </p:pic>
      <p:pic>
        <p:nvPicPr>
          <p:cNvPr id="6" name="Picture 5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9A496E11-A3E4-CCE3-1969-35254DE66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471" y="3273596"/>
            <a:ext cx="4727545" cy="3545659"/>
          </a:xfrm>
          <a:prstGeom prst="rect">
            <a:avLst/>
          </a:prstGeom>
        </p:spPr>
      </p:pic>
      <p:pic>
        <p:nvPicPr>
          <p:cNvPr id="3" name="Picture 2" descr="Fig. 1">
            <a:extLst>
              <a:ext uri="{FF2B5EF4-FFF2-40B4-BE49-F238E27FC236}">
                <a16:creationId xmlns:a16="http://schemas.microsoft.com/office/drawing/2014/main" id="{40F54304-F043-0714-55B7-87B23C8FEA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85" t="1" r="45539" b="59486"/>
          <a:stretch>
            <a:fillRect/>
          </a:stretch>
        </p:blipFill>
        <p:spPr bwMode="auto">
          <a:xfrm>
            <a:off x="543724" y="74159"/>
            <a:ext cx="2516940" cy="3354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close-up of a graph&#10;&#10;AI-generated content may be incorrect.">
            <a:extLst>
              <a:ext uri="{FF2B5EF4-FFF2-40B4-BE49-F238E27FC236}">
                <a16:creationId xmlns:a16="http://schemas.microsoft.com/office/drawing/2014/main" id="{43E585A5-4AC5-5D6C-A26F-392E71E959C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807"/>
          <a:stretch>
            <a:fillRect/>
          </a:stretch>
        </p:blipFill>
        <p:spPr>
          <a:xfrm>
            <a:off x="2170509" y="3300255"/>
            <a:ext cx="1143714" cy="3545659"/>
          </a:xfrm>
          <a:prstGeom prst="rect">
            <a:avLst/>
          </a:prstGeom>
        </p:spPr>
      </p:pic>
      <p:pic>
        <p:nvPicPr>
          <p:cNvPr id="1026" name="Picture 2" descr="Fig. 1">
            <a:extLst>
              <a:ext uri="{FF2B5EF4-FFF2-40B4-BE49-F238E27FC236}">
                <a16:creationId xmlns:a16="http://schemas.microsoft.com/office/drawing/2014/main" id="{D314C9A0-BDA5-11D9-8389-1C6B25AE13F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33" r="32870" b="1"/>
          <a:stretch>
            <a:fillRect/>
          </a:stretch>
        </p:blipFill>
        <p:spPr bwMode="auto">
          <a:xfrm>
            <a:off x="3604390" y="38745"/>
            <a:ext cx="8587610" cy="3443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63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EA8BD-4B06-D4BF-BCBF-050BFE14A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0EC0B-C8CA-AEF3-FBAC-044566244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2FE16-6DE9-3C3A-53CF-096387277F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604390" y="3300256"/>
            <a:ext cx="4658476" cy="3493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45698EF-F0BE-6DF4-0C61-0BA22D4FDE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98195" y="3352058"/>
            <a:ext cx="4658476" cy="3493857"/>
          </a:xfrm>
          <a:prstGeom prst="rect">
            <a:avLst/>
          </a:prstGeom>
        </p:spPr>
      </p:pic>
      <p:pic>
        <p:nvPicPr>
          <p:cNvPr id="3" name="Picture 2" descr="Fig. 1">
            <a:extLst>
              <a:ext uri="{FF2B5EF4-FFF2-40B4-BE49-F238E27FC236}">
                <a16:creationId xmlns:a16="http://schemas.microsoft.com/office/drawing/2014/main" id="{DE1ECDAF-ED3D-7644-4281-0DD14E41DA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85" t="1" r="45539" b="59486"/>
          <a:stretch>
            <a:fillRect/>
          </a:stretch>
        </p:blipFill>
        <p:spPr bwMode="auto">
          <a:xfrm>
            <a:off x="543724" y="74159"/>
            <a:ext cx="2516940" cy="3354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FCB839-7DA5-B5CB-8860-2B5860EE50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89" t="731" r="76097" b="-731"/>
          <a:stretch>
            <a:fillRect/>
          </a:stretch>
        </p:blipFill>
        <p:spPr>
          <a:xfrm>
            <a:off x="2170509" y="3300255"/>
            <a:ext cx="1143714" cy="3545659"/>
          </a:xfrm>
          <a:prstGeom prst="rect">
            <a:avLst/>
          </a:prstGeom>
        </p:spPr>
      </p:pic>
      <p:pic>
        <p:nvPicPr>
          <p:cNvPr id="1026" name="Picture 2" descr="Fig. 1">
            <a:extLst>
              <a:ext uri="{FF2B5EF4-FFF2-40B4-BE49-F238E27FC236}">
                <a16:creationId xmlns:a16="http://schemas.microsoft.com/office/drawing/2014/main" id="{E8149461-FF7C-89FF-6E7F-2007ACC4420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33" r="32870" b="1"/>
          <a:stretch>
            <a:fillRect/>
          </a:stretch>
        </p:blipFill>
        <p:spPr bwMode="auto">
          <a:xfrm>
            <a:off x="3604390" y="38745"/>
            <a:ext cx="8587610" cy="3443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86533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C4F12-7248-8762-0EAA-59AEA911B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44D9E24-7C9F-3682-9444-A90D7BED24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03775" y="1825625"/>
            <a:ext cx="5801784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505CD6-D75D-E280-BFC4-2C75FB926D27}"/>
              </a:ext>
            </a:extLst>
          </p:cNvPr>
          <p:cNvSpPr txBox="1"/>
          <p:nvPr/>
        </p:nvSpPr>
        <p:spPr>
          <a:xfrm>
            <a:off x="1117600" y="2675467"/>
            <a:ext cx="3191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</a:t>
            </a:r>
            <a:r>
              <a:rPr lang="en-US" dirty="0" err="1"/>
              <a:t>μm</a:t>
            </a:r>
            <a:r>
              <a:rPr lang="en-US" dirty="0"/>
              <a:t> light @ normal incidence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B5C83D-43BA-E9CC-9B27-348587B13BC4}"/>
              </a:ext>
            </a:extLst>
          </p:cNvPr>
          <p:cNvSpPr txBox="1"/>
          <p:nvPr/>
        </p:nvSpPr>
        <p:spPr>
          <a:xfrm>
            <a:off x="1113559" y="3244334"/>
            <a:ext cx="3195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 posts on Sapphire substrate</a:t>
            </a:r>
          </a:p>
        </p:txBody>
      </p:sp>
    </p:spTree>
    <p:extLst>
      <p:ext uri="{BB962C8B-B14F-4D97-AF65-F5344CB8AC3E}">
        <p14:creationId xmlns:p14="http://schemas.microsoft.com/office/powerpoint/2010/main" val="371311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F36D-F569-7913-9EE4-F8224AA10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245DD-5102-8EB5-49AB-97AE403A1A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371" y="1690688"/>
            <a:ext cx="4801467" cy="36896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D3DDA4-CEEA-6242-D19D-68C0B092B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39667" y="3511410"/>
            <a:ext cx="3852760" cy="29814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C71D9DE-27B0-FC0C-7E0B-68336FB252A6}"/>
              </a:ext>
            </a:extLst>
          </p:cNvPr>
          <p:cNvSpPr txBox="1"/>
          <p:nvPr/>
        </p:nvSpPr>
        <p:spPr>
          <a:xfrm>
            <a:off x="940982" y="5791201"/>
            <a:ext cx="40166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Wang, et. al, Opt. Lett. </a:t>
            </a:r>
            <a:r>
              <a:rPr lang="en-US" sz="16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38</a:t>
            </a:r>
            <a:r>
              <a:rPr lang="en-US" sz="1600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100-102 (2013)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D8E09E-919E-4220-3DA1-44D04172B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2585" y="82412"/>
            <a:ext cx="4398682" cy="3299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A5F75FE-FAE8-7F44-C32F-FC697F058AEA}"/>
              </a:ext>
            </a:extLst>
          </p:cNvPr>
          <p:cNvSpPr txBox="1"/>
          <p:nvPr/>
        </p:nvSpPr>
        <p:spPr>
          <a:xfrm>
            <a:off x="9891267" y="1918447"/>
            <a:ext cx="2067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Set run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30F8C0-6EB8-10E9-97BA-C4BDEE43465F}"/>
              </a:ext>
            </a:extLst>
          </p:cNvPr>
          <p:cNvSpPr txBox="1"/>
          <p:nvPr/>
        </p:nvSpPr>
        <p:spPr>
          <a:xfrm>
            <a:off x="9891266" y="4672264"/>
            <a:ext cx="206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Set </a:t>
            </a:r>
            <a:r>
              <a:rPr lang="en-US" dirty="0" err="1"/>
              <a:t>decay_by</a:t>
            </a:r>
            <a:r>
              <a:rPr lang="en-US" dirty="0"/>
              <a:t> amount</a:t>
            </a:r>
          </a:p>
        </p:txBody>
      </p:sp>
    </p:spTree>
    <p:extLst>
      <p:ext uri="{BB962C8B-B14F-4D97-AF65-F5344CB8AC3E}">
        <p14:creationId xmlns:p14="http://schemas.microsoft.com/office/powerpoint/2010/main" val="4239185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9C675-2D46-18DA-AA15-3B58FAE01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1A39-95B2-2FC6-844E-D6BED8DA8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275B4D-B2A2-C33A-BB4D-A30D38629A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604390" y="3300256"/>
            <a:ext cx="4658476" cy="3493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3E7B17-273F-532C-5122-B9318A31D4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98195" y="3352058"/>
            <a:ext cx="4658476" cy="3493857"/>
          </a:xfrm>
          <a:prstGeom prst="rect">
            <a:avLst/>
          </a:prstGeom>
        </p:spPr>
      </p:pic>
      <p:pic>
        <p:nvPicPr>
          <p:cNvPr id="3" name="Picture 2" descr="Fig. 1">
            <a:extLst>
              <a:ext uri="{FF2B5EF4-FFF2-40B4-BE49-F238E27FC236}">
                <a16:creationId xmlns:a16="http://schemas.microsoft.com/office/drawing/2014/main" id="{72C6AD40-2562-67C1-1E2E-4C6552192F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85" t="1" r="45539" b="59486"/>
          <a:stretch>
            <a:fillRect/>
          </a:stretch>
        </p:blipFill>
        <p:spPr bwMode="auto">
          <a:xfrm>
            <a:off x="543724" y="74159"/>
            <a:ext cx="2516940" cy="3354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790C15-0162-969D-A124-305AF40625C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0" r="75708"/>
          <a:stretch>
            <a:fillRect/>
          </a:stretch>
        </p:blipFill>
        <p:spPr>
          <a:xfrm>
            <a:off x="2170509" y="3300255"/>
            <a:ext cx="1143714" cy="3545659"/>
          </a:xfrm>
          <a:prstGeom prst="rect">
            <a:avLst/>
          </a:prstGeom>
        </p:spPr>
      </p:pic>
      <p:pic>
        <p:nvPicPr>
          <p:cNvPr id="1026" name="Picture 2" descr="Fig. 1">
            <a:extLst>
              <a:ext uri="{FF2B5EF4-FFF2-40B4-BE49-F238E27FC236}">
                <a16:creationId xmlns:a16="http://schemas.microsoft.com/office/drawing/2014/main" id="{C24E77C6-8BD5-D6CA-4D5D-BEF850B36EE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33" r="32870" b="1"/>
          <a:stretch>
            <a:fillRect/>
          </a:stretch>
        </p:blipFill>
        <p:spPr bwMode="auto">
          <a:xfrm>
            <a:off x="3604390" y="38745"/>
            <a:ext cx="8587610" cy="3443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2859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8BA44-19A8-A9E0-935E-78EF2B8C7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01806B-3443-3CC5-487B-1D25DEB927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5413" y="1027906"/>
            <a:ext cx="2714200" cy="43513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02BCB1-0247-9FF4-783D-F6DD4201D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010" y="1234210"/>
            <a:ext cx="5774877" cy="414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85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13624-13F4-EEE9-C9A3-8B4BF1882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F7CA8-8C34-644C-70B2-72C6327CA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CD37369-6EC7-291F-5D2D-8731EF2E02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5413" y="1027906"/>
            <a:ext cx="2714200" cy="43513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A7B4BA0-5FA1-34C1-E636-25A5E8DDD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010" y="1234210"/>
            <a:ext cx="5774877" cy="414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742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5C7A5-B720-D9DF-34CA-69CDF3649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plans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2C028-4020-443C-4F8C-6436D099AF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73770" cy="4351338"/>
          </a:xfrm>
        </p:spPr>
        <p:txBody>
          <a:bodyPr/>
          <a:lstStyle/>
          <a:p>
            <a:r>
              <a:rPr lang="en-US" dirty="0"/>
              <a:t>Figure out how to restrict to just the lowest mode in Z</a:t>
            </a:r>
          </a:p>
          <a:p>
            <a:r>
              <a:rPr lang="en-US" dirty="0"/>
              <a:t>Run optimization for hole radius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746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23503</TotalTime>
  <Words>54</Words>
  <Application>Microsoft Macintosh PowerPoint</Application>
  <PresentationFormat>Widescreen</PresentationFormat>
  <Paragraphs>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Future plans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Jonah G. Gezelter</dc:creator>
  <cp:lastModifiedBy>Jonah G. Gezelter</cp:lastModifiedBy>
  <cp:revision>10</cp:revision>
  <dcterms:created xsi:type="dcterms:W3CDTF">2026-03-02T00:41:47Z</dcterms:created>
  <dcterms:modified xsi:type="dcterms:W3CDTF">2026-04-13T17:35:38Z</dcterms:modified>
</cp:coreProperties>
</file>